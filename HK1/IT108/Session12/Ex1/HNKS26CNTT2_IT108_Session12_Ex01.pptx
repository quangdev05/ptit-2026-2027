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Montserrat Bold" panose="020B0604020202020204" charset="0"/>
      <p:regular r:id="rId3"/>
    </p:embeddedFont>
    <p:embeddedFont>
      <p:font typeface="Pragmatica Extended" panose="020B0604020202020204" charset="0"/>
      <p:regular r:id="rId4"/>
    </p:embeddedFont>
    <p:embeddedFont>
      <p:font typeface="Pragmatica Extended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5330" y="20770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60561" y="288889"/>
            <a:ext cx="1283704" cy="37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 spc="76" dirty="0" err="1">
                <a:solidFill>
                  <a:srgbClr val="09286B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PayKX</a:t>
            </a:r>
            <a:endParaRPr lang="en-US" sz="2575" b="1" spc="76" dirty="0">
              <a:solidFill>
                <a:srgbClr val="09286B"/>
              </a:solidFill>
              <a:latin typeface="Pragmatica Extended Bold"/>
              <a:ea typeface="Pragmatica Extended Bold"/>
              <a:cs typeface="Pragmatica Extended Bold"/>
              <a:sym typeface="Pragmatica Exte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50721" y="665409"/>
            <a:ext cx="2267773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3"/>
              </a:lnSpc>
            </a:pPr>
            <a:r>
              <a:rPr lang="en-US" sz="1335" spc="39">
                <a:solidFill>
                  <a:srgbClr val="3B3B3B">
                    <a:alpha val="60000"/>
                  </a:srgbClr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Vi điều từ cho sinh viên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9207" y="1388330"/>
            <a:ext cx="5061343" cy="58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939" b="1" spc="117" dirty="0">
                <a:solidFill>
                  <a:srgbClr val="09286B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BÁO CÁO LỖI LÃI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4158" y="2056543"/>
            <a:ext cx="3566204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82">
                <a:solidFill>
                  <a:srgbClr val="2065C2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THÁNG 05/2024</a:t>
            </a:r>
          </a:p>
        </p:txBody>
      </p:sp>
      <p:sp>
        <p:nvSpPr>
          <p:cNvPr id="8" name="Freeform 8"/>
          <p:cNvSpPr/>
          <p:nvPr/>
        </p:nvSpPr>
        <p:spPr>
          <a:xfrm>
            <a:off x="1301598" y="2776725"/>
            <a:ext cx="1531292" cy="229572"/>
          </a:xfrm>
          <a:custGeom>
            <a:avLst/>
            <a:gdLst/>
            <a:ahLst/>
            <a:cxnLst/>
            <a:rect l="l" t="t" r="r" b="b"/>
            <a:pathLst>
              <a:path w="1531292" h="229572">
                <a:moveTo>
                  <a:pt x="0" y="0"/>
                </a:moveTo>
                <a:lnTo>
                  <a:pt x="1531292" y="0"/>
                </a:lnTo>
                <a:lnTo>
                  <a:pt x="153129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26574" y="3214004"/>
            <a:ext cx="17434852" cy="218640"/>
          </a:xfrm>
          <a:custGeom>
            <a:avLst/>
            <a:gdLst/>
            <a:ahLst/>
            <a:cxnLst/>
            <a:rect l="l" t="t" r="r" b="b"/>
            <a:pathLst>
              <a:path w="17434852" h="218640">
                <a:moveTo>
                  <a:pt x="0" y="0"/>
                </a:moveTo>
                <a:lnTo>
                  <a:pt x="17434852" y="0"/>
                </a:lnTo>
                <a:lnTo>
                  <a:pt x="1743485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46339" y="3542030"/>
            <a:ext cx="3054377" cy="26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1" spc="55">
                <a:solidFill>
                  <a:srgbClr val="09286B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TỔNG QUAN KẾT QUẢ</a:t>
            </a:r>
          </a:p>
        </p:txBody>
      </p:sp>
      <p:sp>
        <p:nvSpPr>
          <p:cNvPr id="11" name="Freeform 11"/>
          <p:cNvSpPr/>
          <p:nvPr/>
        </p:nvSpPr>
        <p:spPr>
          <a:xfrm>
            <a:off x="426574" y="3848060"/>
            <a:ext cx="4364182" cy="2372241"/>
          </a:xfrm>
          <a:custGeom>
            <a:avLst/>
            <a:gdLst/>
            <a:ahLst/>
            <a:cxnLst/>
            <a:rect l="l" t="t" r="r" b="b"/>
            <a:pathLst>
              <a:path w="4364182" h="2372241">
                <a:moveTo>
                  <a:pt x="0" y="0"/>
                </a:moveTo>
                <a:lnTo>
                  <a:pt x="4364182" y="0"/>
                </a:lnTo>
                <a:lnTo>
                  <a:pt x="436418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01598" y="40666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324668" y="4174586"/>
            <a:ext cx="1391598" cy="46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3B3B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DOANH THU</a:t>
            </a:r>
          </a:p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3B3B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THUẦN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1883" y="4686654"/>
            <a:ext cx="1097167" cy="46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1" spc="92">
                <a:solidFill>
                  <a:srgbClr val="2065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12,45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77475" y="5168601"/>
            <a:ext cx="78097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2065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TỶ VND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0354" y="556438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20354" y="578302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101714" y="5560965"/>
            <a:ext cx="1645160" cy="52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+18,6%</a:t>
            </a:r>
          </a:p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so với T4/2024</a:t>
            </a:r>
          </a:p>
        </p:txBody>
      </p:sp>
      <p:sp>
        <p:nvSpPr>
          <p:cNvPr id="19" name="Freeform 19"/>
          <p:cNvSpPr/>
          <p:nvPr/>
        </p:nvSpPr>
        <p:spPr>
          <a:xfrm>
            <a:off x="4998574" y="3848060"/>
            <a:ext cx="4145426" cy="2372241"/>
          </a:xfrm>
          <a:custGeom>
            <a:avLst/>
            <a:gdLst/>
            <a:ahLst/>
            <a:cxnLst/>
            <a:rect l="l" t="t" r="r" b="b"/>
            <a:pathLst>
              <a:path w="4145426" h="2372241">
                <a:moveTo>
                  <a:pt x="0" y="0"/>
                </a:moveTo>
                <a:lnTo>
                  <a:pt x="4145426" y="0"/>
                </a:lnTo>
                <a:lnTo>
                  <a:pt x="414542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654842" y="40666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820208" y="4686654"/>
            <a:ext cx="922654" cy="46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1" spc="92">
                <a:solidFill>
                  <a:srgbClr val="2176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7,28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68011" y="5168601"/>
            <a:ext cx="78097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2176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TỶ VND</a:t>
            </a:r>
          </a:p>
        </p:txBody>
      </p:sp>
      <p:sp>
        <p:nvSpPr>
          <p:cNvPr id="23" name="Freeform 23"/>
          <p:cNvSpPr/>
          <p:nvPr/>
        </p:nvSpPr>
        <p:spPr>
          <a:xfrm>
            <a:off x="6311110" y="556438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6322331" y="5560965"/>
            <a:ext cx="1645160" cy="52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▲ +12,1%</a:t>
            </a:r>
          </a:p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so với T4/2024</a:t>
            </a:r>
          </a:p>
        </p:txBody>
      </p:sp>
      <p:sp>
        <p:nvSpPr>
          <p:cNvPr id="25" name="Freeform 25"/>
          <p:cNvSpPr/>
          <p:nvPr/>
        </p:nvSpPr>
        <p:spPr>
          <a:xfrm>
            <a:off x="9144000" y="3848060"/>
            <a:ext cx="4145426" cy="2372241"/>
          </a:xfrm>
          <a:custGeom>
            <a:avLst/>
            <a:gdLst/>
            <a:ahLst/>
            <a:cxnLst/>
            <a:rect l="l" t="t" r="r" b="b"/>
            <a:pathLst>
              <a:path w="4145426" h="2372241">
                <a:moveTo>
                  <a:pt x="0" y="0"/>
                </a:moveTo>
                <a:lnTo>
                  <a:pt x="4145426" y="0"/>
                </a:lnTo>
                <a:lnTo>
                  <a:pt x="414542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789330" y="3848060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1068468" y="4596289"/>
            <a:ext cx="814862" cy="46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1" spc="92">
                <a:solidFill>
                  <a:srgbClr val="7039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5,17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445598" y="5564382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530892" y="5560965"/>
            <a:ext cx="1645160" cy="52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▲ +27,4%</a:t>
            </a:r>
          </a:p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so với T4/2024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497244" y="3848060"/>
            <a:ext cx="4364182" cy="2372241"/>
          </a:xfrm>
          <a:custGeom>
            <a:avLst/>
            <a:gdLst/>
            <a:ahLst/>
            <a:cxnLst/>
            <a:rect l="l" t="t" r="r" b="b"/>
            <a:pathLst>
              <a:path w="4364182" h="2372241">
                <a:moveTo>
                  <a:pt x="0" y="0"/>
                </a:moveTo>
                <a:lnTo>
                  <a:pt x="4364182" y="0"/>
                </a:lnTo>
                <a:lnTo>
                  <a:pt x="436418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3923818" y="406669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5323591" y="4596289"/>
            <a:ext cx="929621" cy="46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1" spc="92">
                <a:solidFill>
                  <a:srgbClr val="F085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2,89</a:t>
            </a:r>
          </a:p>
        </p:txBody>
      </p:sp>
      <p:sp>
        <p:nvSpPr>
          <p:cNvPr id="33" name="Freeform 33"/>
          <p:cNvSpPr/>
          <p:nvPr/>
        </p:nvSpPr>
        <p:spPr>
          <a:xfrm>
            <a:off x="14798842" y="5564382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4921620" y="5560965"/>
            <a:ext cx="1645160" cy="52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▲ +31,2%</a:t>
            </a:r>
          </a:p>
          <a:p>
            <a:pPr algn="ctr">
              <a:lnSpc>
                <a:spcPts val="2165"/>
              </a:lnSpc>
            </a:pPr>
            <a:r>
              <a:rPr lang="en-US" sz="1546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so với T4/2024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6574" y="6209369"/>
            <a:ext cx="8717426" cy="3224936"/>
          </a:xfrm>
          <a:custGeom>
            <a:avLst/>
            <a:gdLst/>
            <a:ahLst/>
            <a:cxnLst/>
            <a:rect l="l" t="t" r="r" b="b"/>
            <a:pathLst>
              <a:path w="8717426" h="3224936">
                <a:moveTo>
                  <a:pt x="0" y="0"/>
                </a:moveTo>
                <a:lnTo>
                  <a:pt x="8717426" y="0"/>
                </a:lnTo>
                <a:lnTo>
                  <a:pt x="871742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082842" y="6854356"/>
            <a:ext cx="229694" cy="2153601"/>
          </a:xfrm>
          <a:custGeom>
            <a:avLst/>
            <a:gdLst/>
            <a:ahLst/>
            <a:cxnLst/>
            <a:rect l="l" t="t" r="r" b="b"/>
            <a:pathLst>
              <a:path w="229694" h="2153601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520354" y="7707051"/>
            <a:ext cx="875024" cy="1300906"/>
          </a:xfrm>
          <a:custGeom>
            <a:avLst/>
            <a:gdLst/>
            <a:ahLst/>
            <a:cxnLst/>
            <a:rect l="l" t="t" r="r" b="b"/>
            <a:pathLst>
              <a:path w="875024" h="1300906">
                <a:moveTo>
                  <a:pt x="0" y="0"/>
                </a:moveTo>
                <a:lnTo>
                  <a:pt x="875024" y="0"/>
                </a:lnTo>
                <a:lnTo>
                  <a:pt x="87502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3040708" y="7707051"/>
            <a:ext cx="667206" cy="1300906"/>
          </a:xfrm>
          <a:custGeom>
            <a:avLst/>
            <a:gdLst/>
            <a:ahLst/>
            <a:cxnLst/>
            <a:rect l="l" t="t" r="r" b="b"/>
            <a:pathLst>
              <a:path w="667206" h="1300906">
                <a:moveTo>
                  <a:pt x="0" y="0"/>
                </a:moveTo>
                <a:lnTo>
                  <a:pt x="667206" y="0"/>
                </a:lnTo>
                <a:lnTo>
                  <a:pt x="66720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4353244" y="7499343"/>
            <a:ext cx="875024" cy="1508614"/>
          </a:xfrm>
          <a:custGeom>
            <a:avLst/>
            <a:gdLst/>
            <a:ahLst/>
            <a:cxnLst/>
            <a:rect l="l" t="t" r="r" b="b"/>
            <a:pathLst>
              <a:path w="875024" h="1508614">
                <a:moveTo>
                  <a:pt x="0" y="0"/>
                </a:moveTo>
                <a:lnTo>
                  <a:pt x="875024" y="0"/>
                </a:lnTo>
                <a:lnTo>
                  <a:pt x="87502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5873598" y="7499343"/>
            <a:ext cx="667206" cy="1508614"/>
          </a:xfrm>
          <a:custGeom>
            <a:avLst/>
            <a:gdLst/>
            <a:ahLst/>
            <a:cxnLst/>
            <a:rect l="l" t="t" r="r" b="b"/>
            <a:pathLst>
              <a:path w="667206" h="1508614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7175196" y="7062064"/>
            <a:ext cx="885962" cy="1945894"/>
          </a:xfrm>
          <a:custGeom>
            <a:avLst/>
            <a:gdLst/>
            <a:ahLst/>
            <a:cxnLst/>
            <a:rect l="l" t="t" r="r" b="b"/>
            <a:pathLst>
              <a:path w="885962" h="1945894">
                <a:moveTo>
                  <a:pt x="0" y="0"/>
                </a:moveTo>
                <a:lnTo>
                  <a:pt x="885962" y="0"/>
                </a:lnTo>
                <a:lnTo>
                  <a:pt x="88596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426574" y="9423373"/>
            <a:ext cx="17434852" cy="863627"/>
          </a:xfrm>
          <a:custGeom>
            <a:avLst/>
            <a:gdLst/>
            <a:ahLst/>
            <a:cxnLst/>
            <a:rect l="l" t="t" r="r" b="b"/>
            <a:pathLst>
              <a:path w="17434852" h="863627">
                <a:moveTo>
                  <a:pt x="0" y="0"/>
                </a:moveTo>
                <a:lnTo>
                  <a:pt x="17434852" y="0"/>
                </a:lnTo>
                <a:lnTo>
                  <a:pt x="1743485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864086" y="9423373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3861176" y="9711439"/>
            <a:ext cx="10678520" cy="32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spc="68">
                <a:solidFill>
                  <a:srgbClr val="FFFFFF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Tăng trưởng doanh thu mạnh – Tối ưu chi phí – Lợi nhuận bứt phá</a:t>
            </a:r>
          </a:p>
        </p:txBody>
      </p:sp>
      <p:sp>
        <p:nvSpPr>
          <p:cNvPr id="45" name="Freeform 45"/>
          <p:cNvSpPr/>
          <p:nvPr/>
        </p:nvSpPr>
        <p:spPr>
          <a:xfrm>
            <a:off x="11320622" y="426348"/>
            <a:ext cx="5228268" cy="3006296"/>
          </a:xfrm>
          <a:custGeom>
            <a:avLst/>
            <a:gdLst/>
            <a:ahLst/>
            <a:cxnLst/>
            <a:rect l="l" t="t" r="r" b="b"/>
            <a:pathLst>
              <a:path w="5228268" h="3006296">
                <a:moveTo>
                  <a:pt x="0" y="0"/>
                </a:moveTo>
                <a:lnTo>
                  <a:pt x="5228268" y="0"/>
                </a:lnTo>
                <a:lnTo>
                  <a:pt x="522826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2622220" y="1279043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5017598" y="0"/>
            <a:ext cx="3270402" cy="3224936"/>
          </a:xfrm>
          <a:custGeom>
            <a:avLst/>
            <a:gdLst/>
            <a:ahLst/>
            <a:cxnLst/>
            <a:rect l="l" t="t" r="r" b="b"/>
            <a:pathLst>
              <a:path w="3270402" h="3224936">
                <a:moveTo>
                  <a:pt x="0" y="0"/>
                </a:moveTo>
                <a:lnTo>
                  <a:pt x="3270402" y="0"/>
                </a:lnTo>
                <a:lnTo>
                  <a:pt x="327040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9144000" y="6209369"/>
            <a:ext cx="8717426" cy="3224936"/>
          </a:xfrm>
          <a:custGeom>
            <a:avLst/>
            <a:gdLst/>
            <a:ahLst/>
            <a:cxnLst/>
            <a:rect l="l" t="t" r="r" b="b"/>
            <a:pathLst>
              <a:path w="8717426" h="3224936">
                <a:moveTo>
                  <a:pt x="0" y="0"/>
                </a:moveTo>
                <a:lnTo>
                  <a:pt x="8717426" y="0"/>
                </a:lnTo>
                <a:lnTo>
                  <a:pt x="871742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0008086" y="6854356"/>
            <a:ext cx="3500096" cy="2579949"/>
          </a:xfrm>
          <a:custGeom>
            <a:avLst/>
            <a:gdLst/>
            <a:ahLst/>
            <a:cxnLst/>
            <a:rect l="l" t="t" r="r" b="b"/>
            <a:pathLst>
              <a:path w="3500096" h="2579949">
                <a:moveTo>
                  <a:pt x="0" y="0"/>
                </a:moveTo>
                <a:lnTo>
                  <a:pt x="3500096" y="0"/>
                </a:lnTo>
                <a:lnTo>
                  <a:pt x="350009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10943466" y="8822850"/>
            <a:ext cx="487293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FFFFFF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28%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361330" y="7062064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4934468" y="7141571"/>
            <a:ext cx="1382886" cy="46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Phí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đối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tác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&amp;</a:t>
            </a:r>
          </a:p>
          <a:p>
            <a:pPr algn="l">
              <a:lnSpc>
                <a:spcPts val="1940"/>
              </a:lnSpc>
            </a:pP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ngân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hàng</a:t>
            </a:r>
            <a:endParaRPr lang="en-US" sz="1617" dirty="0">
              <a:solidFill>
                <a:srgbClr val="3B3B3B"/>
              </a:solidFill>
              <a:latin typeface="Pragmatica Extended"/>
              <a:ea typeface="Pragmatica Extended"/>
              <a:cs typeface="Pragmatica Extended"/>
              <a:sym typeface="Pragmatica Extended"/>
            </a:endParaRPr>
          </a:p>
        </p:txBody>
      </p:sp>
      <p:sp>
        <p:nvSpPr>
          <p:cNvPr id="53" name="Freeform 53"/>
          <p:cNvSpPr/>
          <p:nvPr/>
        </p:nvSpPr>
        <p:spPr>
          <a:xfrm>
            <a:off x="14361330" y="770705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14361330" y="8133399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14361330" y="8778386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14942502" y="8813325"/>
            <a:ext cx="579461" cy="23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Khác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23852" y="6493955"/>
            <a:ext cx="262419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51">
                <a:solidFill>
                  <a:srgbClr val="09286B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DOANH THU THUẦN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64079" y="6493955"/>
            <a:ext cx="2108464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51">
                <a:solidFill>
                  <a:srgbClr val="09286B"/>
                </a:solidFill>
                <a:latin typeface="Pragmatica Extended Bold"/>
                <a:ea typeface="Pragmatica Extended Bold"/>
                <a:cs typeface="Pragmatica Extended Bold"/>
                <a:sym typeface="Pragmatica Extended Bold"/>
              </a:rPr>
              <a:t>CƠ CẤU CHI PHÍ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963960" y="4174586"/>
            <a:ext cx="2305215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F085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LỢI NHUẬN SAU THUẾ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43773" y="4174586"/>
            <a:ext cx="1710557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7039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LỢI NHUẬN GỘP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930263" y="7834370"/>
            <a:ext cx="1803404" cy="23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Chi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phí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vận</a:t>
            </a:r>
            <a:r>
              <a:rPr lang="en-US" sz="1617" dirty="0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 </a:t>
            </a:r>
            <a:r>
              <a:rPr lang="en-US" sz="1617" dirty="0" err="1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hành</a:t>
            </a:r>
            <a:endParaRPr lang="en-US" sz="1617" dirty="0">
              <a:solidFill>
                <a:srgbClr val="3B3B3B"/>
              </a:solidFill>
              <a:latin typeface="Pragmatica Extended"/>
              <a:ea typeface="Pragmatica Extended"/>
              <a:cs typeface="Pragmatica Extended"/>
              <a:sym typeface="Pragmatica Extende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6717548" y="4234829"/>
            <a:ext cx="1449443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2176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TỔNG CHI PHÍ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928748" y="8316317"/>
            <a:ext cx="1954909" cy="23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Chi phí marketing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085413" y="5093297"/>
            <a:ext cx="78097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70399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TỶ VND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397917" y="5093297"/>
            <a:ext cx="78097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b="1">
                <a:solidFill>
                  <a:srgbClr val="F085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TỶ VND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892314" y="7271583"/>
            <a:ext cx="624066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10,50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255197" y="1373269"/>
            <a:ext cx="538901" cy="16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33">
                <a:solidFill>
                  <a:srgbClr val="09286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PayKX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85345" y="7030609"/>
            <a:ext cx="624066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12,45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6002" y="7738469"/>
            <a:ext cx="484924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7,28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542064" y="7437252"/>
            <a:ext cx="484924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9,36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149033" y="7602921"/>
            <a:ext cx="484924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8,61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407685" y="7828834"/>
            <a:ext cx="487293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FFFFFF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16%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738333" y="7979442"/>
            <a:ext cx="487293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FFFFFF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46%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050622" y="7211340"/>
            <a:ext cx="487293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 dirty="0">
                <a:solidFill>
                  <a:srgbClr val="FFFFFF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10%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999187" y="9093945"/>
            <a:ext cx="410320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T04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186335" y="9093945"/>
            <a:ext cx="410320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T02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579366" y="9093945"/>
            <a:ext cx="410320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T03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392218" y="9093945"/>
            <a:ext cx="410320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T05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93304" y="9093945"/>
            <a:ext cx="410320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T01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60971" y="6910123"/>
            <a:ext cx="278284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16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60971" y="7392070"/>
            <a:ext cx="278284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12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30542" y="7904138"/>
            <a:ext cx="139142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8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30542" y="8386085"/>
            <a:ext cx="139142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4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30542" y="8883093"/>
            <a:ext cx="139142" cy="20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94">
                <a:solidFill>
                  <a:srgbClr val="3B3B3B"/>
                </a:solidFill>
                <a:latin typeface="Pragmatica Extended"/>
                <a:ea typeface="Pragmatica Extended"/>
                <a:cs typeface="Pragmatica Extended"/>
                <a:sym typeface="Pragmatica Extended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Montserrat Bold</vt:lpstr>
      <vt:lpstr>Pragmatica Extended</vt:lpstr>
      <vt:lpstr>Calibri</vt:lpstr>
      <vt:lpstr>Pragmatica Extended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báo cáo lỗ lãi tháng 05/2024</dc:title>
  <cp:lastModifiedBy>Quang Phạm</cp:lastModifiedBy>
  <cp:revision>2</cp:revision>
  <dcterms:created xsi:type="dcterms:W3CDTF">2006-08-16T00:00:00Z</dcterms:created>
  <dcterms:modified xsi:type="dcterms:W3CDTF">2026-10-26T03:57:35Z</dcterms:modified>
  <dc:identifier>DAHZE6RBGnw</dc:identifier>
</cp:coreProperties>
</file>